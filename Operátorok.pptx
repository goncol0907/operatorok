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70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3CDC4E-A11B-4619-B3DB-A75CE0295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E6F2F4F-150E-4935-872B-4B4A2FA21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EDE5985-52AF-406D-951D-BC0A2A00E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1C7AC-5350-4AE7-A316-A33A7FEEB943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FA106DF-1A18-4056-B2C2-49DC96C9A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9D1A2E7-6586-4E2B-8482-2571A7471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8526-5691-4108-BB17-F047FDC86A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043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8AC6F2-E538-4941-8371-8BC597977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D03E22-12CC-4B9D-A6E8-842EDD529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41235F3-6FF2-43B6-94ED-93FFC4A2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1C7AC-5350-4AE7-A316-A33A7FEEB943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7A34D66-EE30-48CA-884B-6AE60E7C7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78C341B-CA99-40A4-8C38-8A6707AE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8526-5691-4108-BB17-F047FDC86A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22469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D44257-C01F-4EE1-8542-68E97B1A5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A672538-BBA2-47A4-BE94-11DF87251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1D9D030-7012-4808-9508-5CCB0951B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1C7AC-5350-4AE7-A316-A33A7FEEB943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B72ECA3-3C55-4550-B684-E911FA507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56678FB-F908-46EE-A457-BF8BC2F4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8526-5691-4108-BB17-F047FDC86A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4072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0263EC-0D39-4475-85F2-8E1D2F8FF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98CE009-EDFD-406C-BADD-CB3F18A16C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1F1D25F-0F66-4A8F-BD16-42C6F1488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D777222-E739-423B-8BBE-59EA75BE6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1C7AC-5350-4AE7-A316-A33A7FEEB943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AEE9734-FBB0-4AF5-AEE6-EB7D9455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34F4E1D-731C-476B-9DD2-01457953C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8526-5691-4108-BB17-F047FDC86A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5726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07F62C-3D2E-4018-A930-02E82514A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1156F1C-8D94-4213-B886-EF02F2D97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1DC01C6-27B0-47FA-B40F-807A1F35B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AF3FF44-B483-4D34-8F1B-1ACE4BAD3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E6907F6-63FB-4CED-B483-3991B619D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F2C91F70-C27E-409E-ADE5-63AED423A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1C7AC-5350-4AE7-A316-A33A7FEEB943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CE45CEF-B415-4A85-AA88-63889458C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AD53A93-A621-4074-84E0-F45E4050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8526-5691-4108-BB17-F047FDC86A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327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A05BB4-C110-4933-B274-087F48F62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7524E03A-6CE3-4526-80CC-C0B0E36E6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1C7AC-5350-4AE7-A316-A33A7FEEB943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DD8C7DD-DDE2-409A-816C-4C279D03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48FCBB2-CF8F-4138-810A-D2BF8CD4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8526-5691-4108-BB17-F047FDC86A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3053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1EF3A428-60C5-4DBF-AB6C-7324D107D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1C7AC-5350-4AE7-A316-A33A7FEEB943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E8B1E0A-1FC5-4B04-A0EF-B540B43E3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7B15E63-2548-4D0B-A376-E5C92FC4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8526-5691-4108-BB17-F047FDC86A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13545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023DBC-DBFB-4CB0-A3CF-5BF28F432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1534E21-4727-4161-A3A0-601446D9A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9B823F4-E0A3-460D-BCA2-549791884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19ACBA2-8005-4243-AE28-4B03022E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1C7AC-5350-4AE7-A316-A33A7FEEB943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EF60E17-9FE8-4D77-9B6C-6EDF73E0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DE5522C-9D9C-44F7-AE31-71F8BC0C6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8526-5691-4108-BB17-F047FDC86A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004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0D24E2-0C2C-4EA4-BB47-688A6CAFC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9A8A863C-B3F4-4149-92F0-76EECFE11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85887DC-C5BA-4FA8-BFE6-62E9B09D7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912C227-DD44-47FB-AC47-E681967CC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1C7AC-5350-4AE7-A316-A33A7FEEB943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B5EF649-A835-439E-8351-B3549067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716CCDD-FD68-49A2-8B61-36B1D54DD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8526-5691-4108-BB17-F047FDC86A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83813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0D9749-E401-40FE-B79B-6C9200FFA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36A0253-81A3-4D17-A85F-6ECA0CC99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13E6ED8-EFB8-4C0E-959C-78F7DB3C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1C7AC-5350-4AE7-A316-A33A7FEEB943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6EF5479-FCA9-482F-836D-7A0BA994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D897D60-A8EB-413F-B202-2BD46929F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8526-5691-4108-BB17-F047FDC86A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7840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4168F12-E0D3-437B-AC61-9DD7ACDAC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E990601-F174-4AA2-AB9D-FBDF52E56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3CC7CA4-136B-4762-9EC4-563C2F353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1C7AC-5350-4AE7-A316-A33A7FEEB943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F57F1FE-5C23-4BE4-91B6-1875A6C6C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58D7B8F-AE28-4DE1-A233-6E09DA73B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8526-5691-4108-BB17-F047FDC86A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7608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7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D6A5B5F-A6E4-4903-84F8-CF6E5CAF8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8E49ECE-5E80-4361-99EB-A57062FD2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368105D-D7F9-4013-8F9B-FB1C1E0341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1C7AC-5350-4AE7-A316-A33A7FEEB943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FD993C0-21C5-4B47-8A26-C923B2572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60F4968-7198-42F3-A890-05DE7E635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28526-5691-4108-BB17-F047FDC86A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7918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8218FD98-13D3-4B07-8AFC-930DC9DCDE10}"/>
              </a:ext>
            </a:extLst>
          </p:cNvPr>
          <p:cNvSpPr txBox="1"/>
          <p:nvPr/>
        </p:nvSpPr>
        <p:spPr>
          <a:xfrm>
            <a:off x="3685258" y="2928013"/>
            <a:ext cx="48214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dirty="0" err="1">
                <a:solidFill>
                  <a:schemeClr val="bg1"/>
                </a:solidFill>
                <a:latin typeface="Montserrat ExtraLight" panose="00000300000000000000" pitchFamily="2" charset="-18"/>
              </a:rPr>
              <a:t>By</a:t>
            </a:r>
            <a:r>
              <a:rPr lang="hu-HU" sz="4000" dirty="0">
                <a:solidFill>
                  <a:schemeClr val="bg1"/>
                </a:solidFill>
                <a:latin typeface="Montserrat ExtraLight" panose="00000300000000000000" pitchFamily="2" charset="-18"/>
              </a:rPr>
              <a:t>: Órendi Göncöl, Debreceni </a:t>
            </a:r>
            <a:r>
              <a:rPr lang="hu-HU" sz="4000" dirty="0" err="1">
                <a:solidFill>
                  <a:schemeClr val="bg1"/>
                </a:solidFill>
                <a:latin typeface="Montserrat ExtraLight" panose="00000300000000000000" pitchFamily="2" charset="-18"/>
              </a:rPr>
              <a:t>Dorian</a:t>
            </a:r>
            <a:endParaRPr lang="hu-HU" sz="4000" dirty="0">
              <a:solidFill>
                <a:schemeClr val="bg1"/>
              </a:solidFill>
              <a:latin typeface="Montserrat ExtraLight" panose="00000300000000000000" pitchFamily="2" charset="-18"/>
            </a:endParaRPr>
          </a:p>
        </p:txBody>
      </p:sp>
      <p:cxnSp>
        <p:nvCxnSpPr>
          <p:cNvPr id="11" name="Google Shape;165;p38">
            <a:extLst>
              <a:ext uri="{FF2B5EF4-FFF2-40B4-BE49-F238E27FC236}">
                <a16:creationId xmlns:a16="http://schemas.microsoft.com/office/drawing/2014/main" id="{2ED107DC-E0F5-4236-BC86-D30F6A9FB5BB}"/>
              </a:ext>
            </a:extLst>
          </p:cNvPr>
          <p:cNvCxnSpPr>
            <a:cxnSpLocks/>
          </p:cNvCxnSpPr>
          <p:nvPr/>
        </p:nvCxnSpPr>
        <p:spPr>
          <a:xfrm flipV="1">
            <a:off x="3486294" y="2785758"/>
            <a:ext cx="7012373" cy="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grpSp>
        <p:nvGrpSpPr>
          <p:cNvPr id="10" name="Csoportba foglalás 9">
            <a:extLst>
              <a:ext uri="{FF2B5EF4-FFF2-40B4-BE49-F238E27FC236}">
                <a16:creationId xmlns:a16="http://schemas.microsoft.com/office/drawing/2014/main" id="{9454812E-39B1-4A49-AC35-F0BA675B72CE}"/>
              </a:ext>
            </a:extLst>
          </p:cNvPr>
          <p:cNvGrpSpPr/>
          <p:nvPr/>
        </p:nvGrpSpPr>
        <p:grpSpPr>
          <a:xfrm>
            <a:off x="1047891" y="935081"/>
            <a:ext cx="9381070" cy="2785533"/>
            <a:chOff x="355599" y="1011281"/>
            <a:chExt cx="9381070" cy="2785533"/>
          </a:xfrm>
        </p:grpSpPr>
        <p:sp>
          <p:nvSpPr>
            <p:cNvPr id="4" name="Szövegdoboz 3">
              <a:extLst>
                <a:ext uri="{FF2B5EF4-FFF2-40B4-BE49-F238E27FC236}">
                  <a16:creationId xmlns:a16="http://schemas.microsoft.com/office/drawing/2014/main" id="{1E1B5824-8B80-44ED-8C0C-77666160309D}"/>
                </a:ext>
              </a:extLst>
            </p:cNvPr>
            <p:cNvSpPr txBox="1"/>
            <p:nvPr/>
          </p:nvSpPr>
          <p:spPr>
            <a:xfrm>
              <a:off x="1574801" y="1803884"/>
              <a:ext cx="816186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hu-HU" sz="7200" b="1" cap="all" dirty="0">
                  <a:solidFill>
                    <a:schemeClr val="bg1"/>
                  </a:solidFill>
                  <a:latin typeface="Montserrat ExtraBold" panose="00000900000000000000" pitchFamily="2" charset="-18"/>
                </a:rPr>
                <a:t>operátorok</a:t>
              </a:r>
            </a:p>
          </p:txBody>
        </p:sp>
        <p:pic>
          <p:nvPicPr>
            <p:cNvPr id="7178" name="Picture 10">
              <a:extLst>
                <a:ext uri="{FF2B5EF4-FFF2-40B4-BE49-F238E27FC236}">
                  <a16:creationId xmlns:a16="http://schemas.microsoft.com/office/drawing/2014/main" id="{E233B2DC-6FF0-4E00-90E0-35757F2864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599" y="1011281"/>
              <a:ext cx="2785533" cy="27855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50119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1726630F-97C7-40DC-AABA-FFA8922E161D}"/>
              </a:ext>
            </a:extLst>
          </p:cNvPr>
          <p:cNvSpPr txBox="1"/>
          <p:nvPr/>
        </p:nvSpPr>
        <p:spPr>
          <a:xfrm>
            <a:off x="3657600" y="68071"/>
            <a:ext cx="487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7200" cap="all" dirty="0" err="1">
                <a:solidFill>
                  <a:schemeClr val="bg1"/>
                </a:solidFill>
                <a:latin typeface="Montserrat ExtraBold" panose="00000900000000000000" pitchFamily="2" charset="-18"/>
              </a:rPr>
              <a:t>Menu</a:t>
            </a:r>
            <a:endParaRPr lang="hu-HU" sz="7200" cap="all" dirty="0">
              <a:solidFill>
                <a:schemeClr val="bg1"/>
              </a:solidFill>
              <a:latin typeface="Montserrat ExtraBold" panose="00000900000000000000" pitchFamily="2" charset="-18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0C0C786-21D1-4A1A-97C3-2AA01C310425}"/>
              </a:ext>
            </a:extLst>
          </p:cNvPr>
          <p:cNvSpPr txBox="1"/>
          <p:nvPr/>
        </p:nvSpPr>
        <p:spPr>
          <a:xfrm>
            <a:off x="609600" y="1875727"/>
            <a:ext cx="2065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dirty="0">
                <a:solidFill>
                  <a:srgbClr val="002060"/>
                </a:solidFill>
                <a:latin typeface="Montserrat ExtraBold" panose="00000900000000000000" pitchFamily="2" charset="-18"/>
              </a:rPr>
              <a:t>Aritmetikai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D8CB13F2-4BB0-4787-9B42-BC5EFDE7A2EB}"/>
              </a:ext>
            </a:extLst>
          </p:cNvPr>
          <p:cNvSpPr txBox="1"/>
          <p:nvPr/>
        </p:nvSpPr>
        <p:spPr>
          <a:xfrm>
            <a:off x="609600" y="2660663"/>
            <a:ext cx="3640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dirty="0">
                <a:solidFill>
                  <a:srgbClr val="002060"/>
                </a:solidFill>
                <a:latin typeface="Montserrat ExtraBold" panose="00000900000000000000" pitchFamily="2" charset="-18"/>
              </a:rPr>
              <a:t>Értékadó operátorok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09134D5-95C3-4EBC-80E6-DD0F19B4ECC3}"/>
              </a:ext>
            </a:extLst>
          </p:cNvPr>
          <p:cNvSpPr txBox="1"/>
          <p:nvPr/>
        </p:nvSpPr>
        <p:spPr>
          <a:xfrm>
            <a:off x="609600" y="3445599"/>
            <a:ext cx="1540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dirty="0">
                <a:solidFill>
                  <a:srgbClr val="002060"/>
                </a:solidFill>
                <a:latin typeface="Montserrat ExtraBold" panose="00000900000000000000" pitchFamily="2" charset="-18"/>
              </a:rPr>
              <a:t>Relációs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BFB1B70-095A-472A-8C3E-2A31525775CB}"/>
              </a:ext>
            </a:extLst>
          </p:cNvPr>
          <p:cNvSpPr txBox="1"/>
          <p:nvPr/>
        </p:nvSpPr>
        <p:spPr>
          <a:xfrm>
            <a:off x="609600" y="4230535"/>
            <a:ext cx="147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dirty="0">
                <a:solidFill>
                  <a:srgbClr val="002060"/>
                </a:solidFill>
                <a:latin typeface="Montserrat ExtraBold" panose="00000900000000000000" pitchFamily="2" charset="-18"/>
              </a:rPr>
              <a:t>Logikai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AB7E1EFB-2657-4CC3-A071-51F6BBCF689B}"/>
              </a:ext>
            </a:extLst>
          </p:cNvPr>
          <p:cNvSpPr txBox="1"/>
          <p:nvPr/>
        </p:nvSpPr>
        <p:spPr>
          <a:xfrm>
            <a:off x="609600" y="5015469"/>
            <a:ext cx="1261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dirty="0">
                <a:solidFill>
                  <a:srgbClr val="002060"/>
                </a:solidFill>
                <a:latin typeface="Montserrat ExtraBold" panose="00000900000000000000" pitchFamily="2" charset="-18"/>
              </a:rPr>
              <a:t>Egyéb</a:t>
            </a:r>
          </a:p>
        </p:txBody>
      </p:sp>
      <p:pic>
        <p:nvPicPr>
          <p:cNvPr id="13" name="Picture 10">
            <a:extLst>
              <a:ext uri="{FF2B5EF4-FFF2-40B4-BE49-F238E27FC236}">
                <a16:creationId xmlns:a16="http://schemas.microsoft.com/office/drawing/2014/main" id="{344B1C0C-9676-4A02-8E8C-0D23E3EE5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7826" y="5384801"/>
            <a:ext cx="1756347" cy="1756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019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>
            <a:extLst>
              <a:ext uri="{FF2B5EF4-FFF2-40B4-BE49-F238E27FC236}">
                <a16:creationId xmlns:a16="http://schemas.microsoft.com/office/drawing/2014/main" id="{938EF8D7-1587-4F50-A40E-5CCB684E5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793039"/>
            <a:ext cx="9965266" cy="3271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Az operátorok olyan jelek vagy kulcsszavak, amelyek segítségével különböző műveleteket végezhetünk változókon és értékeken.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Operátorok segítségével például:</a:t>
            </a:r>
            <a:b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</a:b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• számolhatunk</a:t>
            </a:r>
            <a:b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</a:b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• értékeket hasonlíthatunk össze</a:t>
            </a:r>
            <a:b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</a:b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• logikai feltételeket vizsgálhatunk</a:t>
            </a:r>
            <a:b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</a:b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• értéket adhatunk egy változónak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74A6CFA4-F17A-4554-BD86-D2313F9F13D9}"/>
              </a:ext>
            </a:extLst>
          </p:cNvPr>
          <p:cNvSpPr txBox="1"/>
          <p:nvPr/>
        </p:nvSpPr>
        <p:spPr>
          <a:xfrm>
            <a:off x="3259666" y="59604"/>
            <a:ext cx="56726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000" cap="all" dirty="0">
                <a:solidFill>
                  <a:schemeClr val="bg1"/>
                </a:solidFill>
                <a:latin typeface="Montserrat ExtraBold" panose="00000900000000000000" pitchFamily="2" charset="-18"/>
              </a:rPr>
              <a:t>Mik azok az Operátorok?</a:t>
            </a:r>
          </a:p>
        </p:txBody>
      </p:sp>
      <p:pic>
        <p:nvPicPr>
          <p:cNvPr id="18" name="Picture 10">
            <a:extLst>
              <a:ext uri="{FF2B5EF4-FFF2-40B4-BE49-F238E27FC236}">
                <a16:creationId xmlns:a16="http://schemas.microsoft.com/office/drawing/2014/main" id="{A9A7C551-D5DB-4E4E-88FF-1A1AA2DCE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7826" y="5384801"/>
            <a:ext cx="1756347" cy="1756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29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07075F-8749-4B89-AA28-226DAD2A8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27" y="2209800"/>
            <a:ext cx="522760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Az aritmetikai operátorokat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matematikai műveletek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elvégzésére használjuk.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+ Összeadás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- Kivonás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* Szorzás</a:t>
            </a:r>
            <a:b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</a:b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/ Osztás</a:t>
            </a:r>
            <a:b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</a:b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% Maradékos osztás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70AB6F3-0F7E-431B-90AE-7899D12EBE91}"/>
              </a:ext>
            </a:extLst>
          </p:cNvPr>
          <p:cNvSpPr txBox="1"/>
          <p:nvPr/>
        </p:nvSpPr>
        <p:spPr>
          <a:xfrm>
            <a:off x="3838575" y="238667"/>
            <a:ext cx="45148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ExtraBold" panose="00000900000000000000" pitchFamily="2" charset="-18"/>
              </a:rPr>
              <a:t>ARITMETIKAI OPERÁTOROK</a:t>
            </a: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F5B9246C-A3C4-48B1-8E10-E2F1594CF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957" y="1362545"/>
            <a:ext cx="7308903" cy="525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11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4A3B1A-4449-4429-8268-69CA3F6A0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074" y="2463667"/>
            <a:ext cx="1011015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Az összehasonlító operátorok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két értéket hasonlítanak össze.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Az eredmény mindig 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true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 vagy false.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== Egyenlő</a:t>
            </a:r>
            <a:b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</a:b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!= Nem egyenlő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Nagyobb</a:t>
            </a:r>
            <a:b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</a:b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&lt; Kisebb</a:t>
            </a:r>
            <a:b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</a:b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= Nagyobb vagy egyenlő</a:t>
            </a:r>
            <a:b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</a:b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Montserrat ExtraBold" panose="00000900000000000000" pitchFamily="2" charset="-18"/>
              </a:rPr>
              <a:t>&lt;= Kisebb vagy egyenlő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5DEE8835-BB6A-425F-9CE4-AA5C0007C7FF}"/>
              </a:ext>
            </a:extLst>
          </p:cNvPr>
          <p:cNvSpPr txBox="1"/>
          <p:nvPr/>
        </p:nvSpPr>
        <p:spPr>
          <a:xfrm>
            <a:off x="3433233" y="196334"/>
            <a:ext cx="532553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ExtraBold" panose="00000900000000000000" pitchFamily="2" charset="-18"/>
              </a:rPr>
              <a:t>ÖSSZEHASONLÍTÓ OPERÁTOROK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438B4DC0-4F98-4DD8-B97E-5B13BB54B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520" y="1684866"/>
            <a:ext cx="7131080" cy="389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21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3BDCA2-2F82-4F7D-8404-BC229C96F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58530"/>
            <a:ext cx="1079164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LOGIKAI OPERÁTOROK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logikai operátorokat feltételek összekapcsolására vagy megfordítására használjuk.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&amp;&amp; ÉS – mindkét feltételnek igaznak kell lennie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|| VAGY – legalább az egyik feltételnek igaznak kell lennie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 NEM – megfordítja a feltétel értékét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Példa: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 age = 18;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 hasTicket = true;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(age &gt;= 18 &amp;&amp; hasTicket)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Console.WriteLine("Beléphet.");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85493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C505C7-2B43-4BEC-AB26-C94F7BAFD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1045908"/>
            <a:ext cx="1072726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ÉRTÉKADÓ OPERÁTOROK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 értékadó operátorokkal értéket adhatunk egy változónak, illetve egy meglévő értéket módosíthatunk.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 Értékadás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+= Hozzáadás és értékadás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-= Kivonás és értékadás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*= Szorzás és értékadás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/= Osztás és értékadás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%= Maradékos osztás és értékadás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Példa: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 x = 10;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 += 5;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Console.WriteLine(x); // 15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 *= 2;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Console.WriteLine(x); // 30</a:t>
            </a:r>
          </a:p>
        </p:txBody>
      </p:sp>
    </p:spTree>
    <p:extLst>
      <p:ext uri="{BB962C8B-B14F-4D97-AF65-F5344CB8AC3E}">
        <p14:creationId xmlns:p14="http://schemas.microsoft.com/office/powerpoint/2010/main" val="3048420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21A66B-0EC0-44E7-AE0E-13A517A8A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1492240"/>
            <a:ext cx="861906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EGYÉB OPERÁTOROK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Vannak olyan operátorok is, amelyek nem tartoznak az előző kategóriákba.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++ Egyel növeli az értéket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-- Egyel csökkenti az értéket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?: Feltételes operátor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?? Null érték esetén alternatív értéket 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Példa: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 x = 5;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x++;</a:t>
            </a:r>
            <a:b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Console.WriteLine(x); //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 name = null;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 result = name ?? "Ismeretlen";</a:t>
            </a:r>
          </a:p>
        </p:txBody>
      </p:sp>
    </p:spTree>
    <p:extLst>
      <p:ext uri="{BB962C8B-B14F-4D97-AF65-F5344CB8AC3E}">
        <p14:creationId xmlns:p14="http://schemas.microsoft.com/office/powerpoint/2010/main" val="1028578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</Words>
  <Application>Microsoft Office PowerPoint</Application>
  <PresentationFormat>Szélesvásznú</PresentationFormat>
  <Paragraphs>45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Montserrat ExtraBold</vt:lpstr>
      <vt:lpstr>Montserrat ExtraLight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Órendi Göncöl</dc:creator>
  <cp:lastModifiedBy>Órendi Göncöl</cp:lastModifiedBy>
  <cp:revision>8</cp:revision>
  <dcterms:created xsi:type="dcterms:W3CDTF">2026-10-01T10:35:21Z</dcterms:created>
  <dcterms:modified xsi:type="dcterms:W3CDTF">2026-10-01T11:52:36Z</dcterms:modified>
</cp:coreProperties>
</file>