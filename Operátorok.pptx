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70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72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53CDC4E-A11B-4619-B3DB-A75CE0295A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E6F2F4F-150E-4935-872B-4B4A2FA211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EDE5985-52AF-406D-951D-BC0A2A00E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1C7AC-5350-4AE7-A316-A33A7FEEB943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FA106DF-1A18-4056-B2C2-49DC96C9A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9D1A2E7-6586-4E2B-8482-2571A7471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28526-5691-4108-BB17-F047FDC86A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0435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8AC6F2-E538-4941-8371-8BC597977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2D03E22-12CC-4B9D-A6E8-842EDD529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1235F3-6FF2-43B6-94ED-93FFC4A2B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1C7AC-5350-4AE7-A316-A33A7FEEB943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7A34D66-EE30-48CA-884B-6AE60E7C7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78C341B-CA99-40A4-8C38-8A6707AE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28526-5691-4108-BB17-F047FDC86A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2469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D44257-C01F-4EE1-8542-68E97B1A5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A672538-BBA2-47A4-BE94-11DF87251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1D9D030-7012-4808-9508-5CCB0951B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1C7AC-5350-4AE7-A316-A33A7FEEB943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B72ECA3-3C55-4550-B684-E911FA507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56678FB-F908-46EE-A457-BF8BC2F40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28526-5691-4108-BB17-F047FDC86A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4072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0263EC-0D39-4475-85F2-8E1D2F8FF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8CE009-EDFD-406C-BADD-CB3F18A16C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1F1D25F-0F66-4A8F-BD16-42C6F14885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D777222-E739-423B-8BBE-59EA75BE6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1C7AC-5350-4AE7-A316-A33A7FEEB943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AEE9734-FBB0-4AF5-AEE6-EB7D94556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34F4E1D-731C-476B-9DD2-01457953C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28526-5691-4108-BB17-F047FDC86A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5726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07F62C-3D2E-4018-A930-02E82514A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1156F1C-8D94-4213-B886-EF02F2D97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1DC01C6-27B0-47FA-B40F-807A1F35BC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AF3FF44-B483-4D34-8F1B-1ACE4BAD30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E6907F6-63FB-4CED-B483-3991B619D8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F2C91F70-C27E-409E-ADE5-63AED423A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1C7AC-5350-4AE7-A316-A33A7FEEB943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9CE45CEF-B415-4A85-AA88-63889458C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AD53A93-A621-4074-84E0-F45E40509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28526-5691-4108-BB17-F047FDC86A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327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0A05BB4-C110-4933-B274-087F48F62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524E03A-6CE3-4526-80CC-C0B0E36E6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1C7AC-5350-4AE7-A316-A33A7FEEB943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DD8C7DD-DDE2-409A-816C-4C279D03A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48FCBB2-CF8F-4138-810A-D2BF8CD4F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28526-5691-4108-BB17-F047FDC86A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33053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1EF3A428-60C5-4DBF-AB6C-7324D107D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1C7AC-5350-4AE7-A316-A33A7FEEB943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E8B1E0A-1FC5-4B04-A0EF-B540B43E3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7B15E63-2548-4D0B-A376-E5C92FC4A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28526-5691-4108-BB17-F047FDC86A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3545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D023DBC-DBFB-4CB0-A3CF-5BF28F432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534E21-4727-4161-A3A0-601446D9AF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9B823F4-E0A3-460D-BCA2-5497918847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F19ACBA2-8005-4243-AE28-4B03022EE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1C7AC-5350-4AE7-A316-A33A7FEEB943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F60E17-9FE8-4D77-9B6C-6EDF73E03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DE5522C-9D9C-44F7-AE31-71F8BC0C6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28526-5691-4108-BB17-F047FDC86A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70045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0D24E2-0C2C-4EA4-BB47-688A6CAFC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9A8A863C-B3F4-4149-92F0-76EECFE11F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85887DC-C5BA-4FA8-BFE6-62E9B09D71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912C227-DD44-47FB-AC47-E681967CC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1C7AC-5350-4AE7-A316-A33A7FEEB943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B5EF649-A835-439E-8351-B35490670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716CCDD-FD68-49A2-8B61-36B1D54DD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28526-5691-4108-BB17-F047FDC86A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83813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0D9749-E401-40FE-B79B-6C9200FFA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F36A0253-81A3-4D17-A85F-6ECA0CC995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13E6ED8-EFB8-4C0E-959C-78F7DB3C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1C7AC-5350-4AE7-A316-A33A7FEEB943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6EF5479-FCA9-482F-836D-7A0BA994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D897D60-A8EB-413F-B202-2BD46929F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28526-5691-4108-BB17-F047FDC86A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37840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84168F12-E0D3-437B-AC61-9DD7ACDACE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E990601-F174-4AA2-AB9D-FBDF52E560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3CC7CA4-136B-4762-9EC4-563C2F353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1C7AC-5350-4AE7-A316-A33A7FEEB943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F57F1FE-5C23-4BE4-91B6-1875A6C6C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58D7B8F-AE28-4DE1-A233-6E09DA73B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28526-5691-4108-BB17-F047FDC86A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7608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470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7D6A5B5F-A6E4-4903-84F8-CF6E5CAF8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8E49ECE-5E80-4361-99EB-A57062FD2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368105D-D7F9-4013-8F9B-FB1C1E0341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1C7AC-5350-4AE7-A316-A33A7FEEB943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FD993C0-21C5-4B47-8A26-C923B2572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0F4968-7198-42F3-A890-05DE7E635A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A28526-5691-4108-BB17-F047FDC86A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7918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7" Type="http://schemas.openxmlformats.org/officeDocument/2006/relationships/image" Target="../media/image1.png"/><Relationship Id="rId2" Type="http://schemas.openxmlformats.org/officeDocument/2006/relationships/slide" Target="slide4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doboz 4">
            <a:extLst>
              <a:ext uri="{FF2B5EF4-FFF2-40B4-BE49-F238E27FC236}">
                <a16:creationId xmlns:a16="http://schemas.microsoft.com/office/drawing/2014/main" id="{8218FD98-13D3-4B07-8AFC-930DC9DCDE10}"/>
              </a:ext>
            </a:extLst>
          </p:cNvPr>
          <p:cNvSpPr txBox="1"/>
          <p:nvPr/>
        </p:nvSpPr>
        <p:spPr>
          <a:xfrm>
            <a:off x="3685258" y="2928013"/>
            <a:ext cx="482148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000" dirty="0" err="1">
                <a:solidFill>
                  <a:schemeClr val="bg1"/>
                </a:solidFill>
                <a:latin typeface="Montserrat ExtraLight" panose="00000300000000000000" pitchFamily="2" charset="-18"/>
              </a:rPr>
              <a:t>By</a:t>
            </a:r>
            <a:r>
              <a:rPr lang="hu-HU" sz="4000" dirty="0">
                <a:solidFill>
                  <a:schemeClr val="bg1"/>
                </a:solidFill>
                <a:latin typeface="Montserrat ExtraLight" panose="00000300000000000000" pitchFamily="2" charset="-18"/>
              </a:rPr>
              <a:t>: Órendi Göncöl, Debreceni </a:t>
            </a:r>
            <a:r>
              <a:rPr lang="hu-HU" sz="4000" dirty="0" err="1">
                <a:solidFill>
                  <a:schemeClr val="bg1"/>
                </a:solidFill>
                <a:latin typeface="Montserrat ExtraLight" panose="00000300000000000000" pitchFamily="2" charset="-18"/>
              </a:rPr>
              <a:t>Dorian</a:t>
            </a:r>
            <a:endParaRPr lang="hu-HU" sz="4000" dirty="0">
              <a:solidFill>
                <a:schemeClr val="bg1"/>
              </a:solidFill>
              <a:latin typeface="Montserrat ExtraLight" panose="00000300000000000000" pitchFamily="2" charset="-18"/>
            </a:endParaRPr>
          </a:p>
        </p:txBody>
      </p:sp>
      <p:cxnSp>
        <p:nvCxnSpPr>
          <p:cNvPr id="11" name="Google Shape;165;p38">
            <a:extLst>
              <a:ext uri="{FF2B5EF4-FFF2-40B4-BE49-F238E27FC236}">
                <a16:creationId xmlns:a16="http://schemas.microsoft.com/office/drawing/2014/main" id="{2ED107DC-E0F5-4236-BC86-D30F6A9FB5BB}"/>
              </a:ext>
            </a:extLst>
          </p:cNvPr>
          <p:cNvCxnSpPr>
            <a:cxnSpLocks/>
          </p:cNvCxnSpPr>
          <p:nvPr/>
        </p:nvCxnSpPr>
        <p:spPr>
          <a:xfrm flipV="1">
            <a:off x="3486294" y="2785758"/>
            <a:ext cx="7012373" cy="1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4" name="Szövegdoboz 3">
            <a:extLst>
              <a:ext uri="{FF2B5EF4-FFF2-40B4-BE49-F238E27FC236}">
                <a16:creationId xmlns:a16="http://schemas.microsoft.com/office/drawing/2014/main" id="{1E1B5824-8B80-44ED-8C0C-77666160309D}"/>
              </a:ext>
            </a:extLst>
          </p:cNvPr>
          <p:cNvSpPr txBox="1"/>
          <p:nvPr/>
        </p:nvSpPr>
        <p:spPr>
          <a:xfrm>
            <a:off x="2267093" y="1727684"/>
            <a:ext cx="81618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hu-HU" sz="7200" b="1" cap="all" dirty="0">
                <a:solidFill>
                  <a:schemeClr val="bg1"/>
                </a:solidFill>
                <a:latin typeface="Montserrat ExtraBold" panose="00000900000000000000" pitchFamily="2" charset="-18"/>
              </a:rPr>
              <a:t>operátorok</a:t>
            </a:r>
          </a:p>
        </p:txBody>
      </p:sp>
      <p:pic>
        <p:nvPicPr>
          <p:cNvPr id="7178" name="Picture 10">
            <a:extLst>
              <a:ext uri="{FF2B5EF4-FFF2-40B4-BE49-F238E27FC236}">
                <a16:creationId xmlns:a16="http://schemas.microsoft.com/office/drawing/2014/main" id="{E233B2DC-6FF0-4E00-90E0-35757F286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891" y="935081"/>
            <a:ext cx="2785533" cy="2785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0119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1726630F-97C7-40DC-AABA-FFA8922E161D}"/>
              </a:ext>
            </a:extLst>
          </p:cNvPr>
          <p:cNvSpPr txBox="1"/>
          <p:nvPr/>
        </p:nvSpPr>
        <p:spPr>
          <a:xfrm>
            <a:off x="3657600" y="68071"/>
            <a:ext cx="4876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7200" cap="all" dirty="0" err="1">
                <a:solidFill>
                  <a:schemeClr val="bg1"/>
                </a:solidFill>
                <a:latin typeface="Montserrat ExtraBold" panose="00000900000000000000" pitchFamily="2" charset="-18"/>
              </a:rPr>
              <a:t>Menu</a:t>
            </a:r>
            <a:endParaRPr lang="hu-HU" sz="7200" cap="all" dirty="0">
              <a:solidFill>
                <a:schemeClr val="bg1"/>
              </a:solidFill>
              <a:latin typeface="Montserrat ExtraBold" panose="00000900000000000000" pitchFamily="2" charset="-18"/>
            </a:endParaRPr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DA6577BD-9712-46F4-BDB3-4AC43D205B26}"/>
              </a:ext>
            </a:extLst>
          </p:cNvPr>
          <p:cNvSpPr/>
          <p:nvPr/>
        </p:nvSpPr>
        <p:spPr>
          <a:xfrm>
            <a:off x="4147636" y="1790642"/>
            <a:ext cx="3708400" cy="461665"/>
          </a:xfrm>
          <a:prstGeom prst="round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5154C58D-B13D-44D9-94CD-70E492CC8F05}"/>
              </a:ext>
            </a:extLst>
          </p:cNvPr>
          <p:cNvSpPr/>
          <p:nvPr/>
        </p:nvSpPr>
        <p:spPr>
          <a:xfrm>
            <a:off x="4147636" y="2596389"/>
            <a:ext cx="3708400" cy="461665"/>
          </a:xfrm>
          <a:prstGeom prst="round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D77ADE3C-2573-4319-9212-AE48DED75591}"/>
              </a:ext>
            </a:extLst>
          </p:cNvPr>
          <p:cNvSpPr/>
          <p:nvPr/>
        </p:nvSpPr>
        <p:spPr>
          <a:xfrm>
            <a:off x="4147636" y="3399528"/>
            <a:ext cx="3708400" cy="461665"/>
          </a:xfrm>
          <a:prstGeom prst="round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0" name="Téglalap: lekerekített 19">
            <a:extLst>
              <a:ext uri="{FF2B5EF4-FFF2-40B4-BE49-F238E27FC236}">
                <a16:creationId xmlns:a16="http://schemas.microsoft.com/office/drawing/2014/main" id="{40C28CC3-45EC-484B-B5DC-BB82DF40960E}"/>
              </a:ext>
            </a:extLst>
          </p:cNvPr>
          <p:cNvSpPr/>
          <p:nvPr/>
        </p:nvSpPr>
        <p:spPr>
          <a:xfrm>
            <a:off x="4147636" y="4230156"/>
            <a:ext cx="3708400" cy="461665"/>
          </a:xfrm>
          <a:prstGeom prst="round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1" name="Téglalap: lekerekített 20">
            <a:extLst>
              <a:ext uri="{FF2B5EF4-FFF2-40B4-BE49-F238E27FC236}">
                <a16:creationId xmlns:a16="http://schemas.microsoft.com/office/drawing/2014/main" id="{B73FF6D3-14B9-4620-8DDF-37BD85CD21B9}"/>
              </a:ext>
            </a:extLst>
          </p:cNvPr>
          <p:cNvSpPr/>
          <p:nvPr/>
        </p:nvSpPr>
        <p:spPr>
          <a:xfrm>
            <a:off x="4147636" y="5060784"/>
            <a:ext cx="3708400" cy="461665"/>
          </a:xfrm>
          <a:prstGeom prst="round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4" name="Szövegdoboz 3">
            <a:hlinkClick r:id="rId2" action="ppaction://hlinksldjump"/>
            <a:extLst>
              <a:ext uri="{FF2B5EF4-FFF2-40B4-BE49-F238E27FC236}">
                <a16:creationId xmlns:a16="http://schemas.microsoft.com/office/drawing/2014/main" id="{00C0C786-21D1-4A1A-97C3-2AA01C310425}"/>
              </a:ext>
            </a:extLst>
          </p:cNvPr>
          <p:cNvSpPr txBox="1"/>
          <p:nvPr/>
        </p:nvSpPr>
        <p:spPr>
          <a:xfrm>
            <a:off x="4953782" y="1790643"/>
            <a:ext cx="20658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dirty="0">
                <a:solidFill>
                  <a:srgbClr val="002060"/>
                </a:solidFill>
                <a:latin typeface="Montserrat ExtraBold" panose="00000900000000000000" pitchFamily="2" charset="-18"/>
              </a:rPr>
              <a:t>Aritmetikai</a:t>
            </a:r>
          </a:p>
        </p:txBody>
      </p:sp>
      <p:sp>
        <p:nvSpPr>
          <p:cNvPr id="6" name="Szövegdoboz 5">
            <a:hlinkClick r:id="rId3" action="ppaction://hlinksldjump"/>
            <a:extLst>
              <a:ext uri="{FF2B5EF4-FFF2-40B4-BE49-F238E27FC236}">
                <a16:creationId xmlns:a16="http://schemas.microsoft.com/office/drawing/2014/main" id="{D8CB13F2-4BB0-4787-9B42-BC5EFDE7A2EB}"/>
              </a:ext>
            </a:extLst>
          </p:cNvPr>
          <p:cNvSpPr txBox="1"/>
          <p:nvPr/>
        </p:nvSpPr>
        <p:spPr>
          <a:xfrm>
            <a:off x="4275665" y="2603814"/>
            <a:ext cx="36406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dirty="0">
                <a:solidFill>
                  <a:srgbClr val="002060"/>
                </a:solidFill>
                <a:latin typeface="Montserrat ExtraBold" panose="00000900000000000000" pitchFamily="2" charset="-18"/>
              </a:rPr>
              <a:t>Értékadó operátorok</a:t>
            </a:r>
          </a:p>
        </p:txBody>
      </p:sp>
      <p:sp>
        <p:nvSpPr>
          <p:cNvPr id="8" name="Szövegdoboz 7">
            <a:hlinkClick r:id="rId4" action="ppaction://hlinksldjump"/>
            <a:extLst>
              <a:ext uri="{FF2B5EF4-FFF2-40B4-BE49-F238E27FC236}">
                <a16:creationId xmlns:a16="http://schemas.microsoft.com/office/drawing/2014/main" id="{309134D5-95C3-4EBC-80E6-DD0F19B4ECC3}"/>
              </a:ext>
            </a:extLst>
          </p:cNvPr>
          <p:cNvSpPr txBox="1"/>
          <p:nvPr/>
        </p:nvSpPr>
        <p:spPr>
          <a:xfrm>
            <a:off x="4686298" y="3416985"/>
            <a:ext cx="2819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dirty="0">
                <a:solidFill>
                  <a:srgbClr val="002060"/>
                </a:solidFill>
                <a:latin typeface="Montserrat ExtraBold" panose="00000900000000000000" pitchFamily="2" charset="-18"/>
              </a:rPr>
              <a:t>Összehasonlító</a:t>
            </a:r>
          </a:p>
        </p:txBody>
      </p:sp>
      <p:sp>
        <p:nvSpPr>
          <p:cNvPr id="10" name="Szövegdoboz 9">
            <a:hlinkClick r:id="rId5" action="ppaction://hlinksldjump"/>
            <a:extLst>
              <a:ext uri="{FF2B5EF4-FFF2-40B4-BE49-F238E27FC236}">
                <a16:creationId xmlns:a16="http://schemas.microsoft.com/office/drawing/2014/main" id="{1BFB1B70-095A-472A-8C3E-2A31525775CB}"/>
              </a:ext>
            </a:extLst>
          </p:cNvPr>
          <p:cNvSpPr txBox="1"/>
          <p:nvPr/>
        </p:nvSpPr>
        <p:spPr>
          <a:xfrm>
            <a:off x="5359398" y="4230156"/>
            <a:ext cx="1473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dirty="0">
                <a:solidFill>
                  <a:srgbClr val="002060"/>
                </a:solidFill>
                <a:latin typeface="Montserrat ExtraBold" panose="00000900000000000000" pitchFamily="2" charset="-18"/>
              </a:rPr>
              <a:t>Logikai</a:t>
            </a:r>
          </a:p>
        </p:txBody>
      </p:sp>
      <p:sp>
        <p:nvSpPr>
          <p:cNvPr id="12" name="Szövegdoboz 11">
            <a:hlinkClick r:id="rId6" action="ppaction://hlinksldjump"/>
            <a:extLst>
              <a:ext uri="{FF2B5EF4-FFF2-40B4-BE49-F238E27FC236}">
                <a16:creationId xmlns:a16="http://schemas.microsoft.com/office/drawing/2014/main" id="{AB7E1EFB-2657-4CC3-A071-51F6BBCF689B}"/>
              </a:ext>
            </a:extLst>
          </p:cNvPr>
          <p:cNvSpPr txBox="1"/>
          <p:nvPr/>
        </p:nvSpPr>
        <p:spPr>
          <a:xfrm>
            <a:off x="5465231" y="5043327"/>
            <a:ext cx="12615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dirty="0">
                <a:solidFill>
                  <a:srgbClr val="002060"/>
                </a:solidFill>
                <a:latin typeface="Montserrat ExtraBold" panose="00000900000000000000" pitchFamily="2" charset="-18"/>
              </a:rPr>
              <a:t>Egyéb</a:t>
            </a:r>
          </a:p>
        </p:txBody>
      </p:sp>
      <p:pic>
        <p:nvPicPr>
          <p:cNvPr id="13" name="Picture 10">
            <a:extLst>
              <a:ext uri="{FF2B5EF4-FFF2-40B4-BE49-F238E27FC236}">
                <a16:creationId xmlns:a16="http://schemas.microsoft.com/office/drawing/2014/main" id="{344B1C0C-9676-4A02-8E8C-0D23E3EE5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7826" y="5384801"/>
            <a:ext cx="1756347" cy="1756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0192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6">
            <a:extLst>
              <a:ext uri="{FF2B5EF4-FFF2-40B4-BE49-F238E27FC236}">
                <a16:creationId xmlns:a16="http://schemas.microsoft.com/office/drawing/2014/main" id="{938EF8D7-1587-4F50-A40E-5CCB684E5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00" y="1793039"/>
            <a:ext cx="9965266" cy="32719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  <a:tabLst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Az operátorok olyan jelek vagy kulcsszavak, amelyek segítségével különböző műveleteket végezhetünk változókon és értékeken.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  <a:tabLst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Operátorok segítségével például:</a:t>
            </a:r>
            <a:b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• számolhatunk</a:t>
            </a:r>
            <a:b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• értékeket hasonlíthatunk össze</a:t>
            </a:r>
            <a:b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• logikai feltételeket vizsgálhatunk</a:t>
            </a:r>
            <a:b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• értéket adhatunk egy változónak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74A6CFA4-F17A-4554-BD86-D2313F9F13D9}"/>
              </a:ext>
            </a:extLst>
          </p:cNvPr>
          <p:cNvSpPr txBox="1"/>
          <p:nvPr/>
        </p:nvSpPr>
        <p:spPr>
          <a:xfrm>
            <a:off x="3259666" y="59604"/>
            <a:ext cx="567266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cap="all" dirty="0">
                <a:solidFill>
                  <a:schemeClr val="bg1"/>
                </a:solidFill>
                <a:latin typeface="Montserrat ExtraBold" panose="00000900000000000000" pitchFamily="2" charset="-18"/>
              </a:rPr>
              <a:t>Mik azok az Operátorok?</a:t>
            </a:r>
          </a:p>
        </p:txBody>
      </p:sp>
      <p:pic>
        <p:nvPicPr>
          <p:cNvPr id="5" name="Picture 10">
            <a:hlinkClick r:id="rId2" action="ppaction://hlinksldjump"/>
            <a:extLst>
              <a:ext uri="{FF2B5EF4-FFF2-40B4-BE49-F238E27FC236}">
                <a16:creationId xmlns:a16="http://schemas.microsoft.com/office/drawing/2014/main" id="{B084243A-D909-4E7E-B81E-DB8D37398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5755" y="5700821"/>
            <a:ext cx="1324810" cy="1324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3D6100EF-8CF4-44FA-8CB8-94B8844CACC8}"/>
              </a:ext>
            </a:extLst>
          </p:cNvPr>
          <p:cNvSpPr txBox="1"/>
          <p:nvPr/>
        </p:nvSpPr>
        <p:spPr>
          <a:xfrm>
            <a:off x="11172079" y="5700821"/>
            <a:ext cx="5521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900" dirty="0">
                <a:solidFill>
                  <a:schemeClr val="bg1"/>
                </a:solidFill>
                <a:latin typeface="Montserrat ExtraBold" panose="00000900000000000000" pitchFamily="2" charset="-18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36562968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07075F-8749-4B89-AA28-226DAD2A85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27" y="2209800"/>
            <a:ext cx="5227608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Az aritmetikai operátorokat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matematikai műveletek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elvégzésére használjuk.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+ Összeadás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- Kivonás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* Szorzás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/ Osztás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% Maradékos osztás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70AB6F3-0F7E-431B-90AE-7899D12EBE91}"/>
              </a:ext>
            </a:extLst>
          </p:cNvPr>
          <p:cNvSpPr txBox="1"/>
          <p:nvPr/>
        </p:nvSpPr>
        <p:spPr>
          <a:xfrm>
            <a:off x="3838575" y="238667"/>
            <a:ext cx="451485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4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ontserrat ExtraBold" panose="00000900000000000000" pitchFamily="2" charset="-18"/>
              </a:rPr>
              <a:t>ARITMETIKAI OPERÁTOROK</a:t>
            </a:r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F5B9246C-A3C4-48B1-8E10-E2F1594CF8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7957" y="1362545"/>
            <a:ext cx="7308903" cy="5256788"/>
          </a:xfrm>
          <a:prstGeom prst="rect">
            <a:avLst/>
          </a:prstGeom>
        </p:spPr>
      </p:pic>
      <p:pic>
        <p:nvPicPr>
          <p:cNvPr id="6" name="Picture 10">
            <a:hlinkClick r:id="rId3" action="ppaction://hlinksldjump"/>
            <a:extLst>
              <a:ext uri="{FF2B5EF4-FFF2-40B4-BE49-F238E27FC236}">
                <a16:creationId xmlns:a16="http://schemas.microsoft.com/office/drawing/2014/main" id="{8DB851CE-8F01-4424-80B1-397FBCF115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5755" y="5700821"/>
            <a:ext cx="1324810" cy="1324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03318617-211C-4B39-A65A-49E803E2FECB}"/>
              </a:ext>
            </a:extLst>
          </p:cNvPr>
          <p:cNvSpPr txBox="1"/>
          <p:nvPr/>
        </p:nvSpPr>
        <p:spPr>
          <a:xfrm>
            <a:off x="11172079" y="5700821"/>
            <a:ext cx="5521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900" dirty="0">
                <a:solidFill>
                  <a:schemeClr val="bg1"/>
                </a:solidFill>
                <a:latin typeface="Montserrat ExtraBold" panose="00000900000000000000" pitchFamily="2" charset="-18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9074115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C505C7-2B43-4BEC-AB26-C94F7BAFDB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" y="2577574"/>
            <a:ext cx="6019800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Az értékadó operátorokkal értéket adhatunk egy változónak, illetve egy meglévő értéket módosíthatunk.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= Értékadás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+= Hozzáadás és értékadás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-= Kivonás és értékadás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*= Szorzás és értékadás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/= Osztás és értékadás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%= Maradékos osztás és értékadás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8A77F13C-0235-49AF-88A5-20D76875779B}"/>
              </a:ext>
            </a:extLst>
          </p:cNvPr>
          <p:cNvSpPr txBox="1"/>
          <p:nvPr/>
        </p:nvSpPr>
        <p:spPr>
          <a:xfrm>
            <a:off x="2624667" y="272533"/>
            <a:ext cx="7442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ontserrat ExtraBold" panose="00000900000000000000" pitchFamily="2" charset="-18"/>
              </a:rPr>
              <a:t>ÉRTÉKADÓ OPERÁTOROK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D12ADBC-D042-4B64-ACEC-81C5BDA1B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602" y="2116666"/>
            <a:ext cx="6905094" cy="4368800"/>
          </a:xfrm>
          <a:prstGeom prst="rect">
            <a:avLst/>
          </a:prstGeom>
        </p:spPr>
      </p:pic>
      <p:pic>
        <p:nvPicPr>
          <p:cNvPr id="7" name="Picture 10">
            <a:hlinkClick r:id="rId3" action="ppaction://hlinksldjump"/>
            <a:extLst>
              <a:ext uri="{FF2B5EF4-FFF2-40B4-BE49-F238E27FC236}">
                <a16:creationId xmlns:a16="http://schemas.microsoft.com/office/drawing/2014/main" id="{B2EB658B-8679-4944-9A5A-B2CD23CBCF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5755" y="5700821"/>
            <a:ext cx="1324810" cy="1324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3E1872DD-B166-4CA0-8CF5-0E5030914920}"/>
              </a:ext>
            </a:extLst>
          </p:cNvPr>
          <p:cNvSpPr txBox="1"/>
          <p:nvPr/>
        </p:nvSpPr>
        <p:spPr>
          <a:xfrm>
            <a:off x="11172079" y="5700821"/>
            <a:ext cx="5521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900" dirty="0">
                <a:solidFill>
                  <a:schemeClr val="bg1"/>
                </a:solidFill>
                <a:latin typeface="Montserrat ExtraBold" panose="00000900000000000000" pitchFamily="2" charset="-18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30484206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4A3B1A-4449-4429-8268-69CA3F6A0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074" y="2206700"/>
            <a:ext cx="628705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Az összehasonlító operátorok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két értéket hasonlítanak össze.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Az eredmény mindig </a:t>
            </a:r>
            <a:r>
              <a:rPr kumimoji="0" lang="hu-HU" altLang="hu-HU" sz="2400" b="0" i="0" u="none" strike="noStrike" cap="none" normalizeH="0" baseline="0" dirty="0" err="1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true</a:t>
            </a: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 vagy false.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== Egyenlő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!= Nem egyenlő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Nagyobb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&lt; Kisebb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= Nagyobb vagy egyenlő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&lt;= Kisebb vagy egyenlő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5DEE8835-BB6A-425F-9CE4-AA5C0007C7FF}"/>
              </a:ext>
            </a:extLst>
          </p:cNvPr>
          <p:cNvSpPr txBox="1"/>
          <p:nvPr/>
        </p:nvSpPr>
        <p:spPr>
          <a:xfrm>
            <a:off x="3433233" y="196334"/>
            <a:ext cx="532553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ontserrat ExtraBold" panose="00000900000000000000" pitchFamily="2" charset="-18"/>
              </a:rPr>
              <a:t>ÖSSZEHASONLÍTÓ OPERÁTOROK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438B4DC0-4F98-4DD8-B97E-5B13BB54BE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120" y="1728353"/>
            <a:ext cx="7131080" cy="3894667"/>
          </a:xfrm>
          <a:prstGeom prst="rect">
            <a:avLst/>
          </a:prstGeom>
        </p:spPr>
      </p:pic>
      <p:pic>
        <p:nvPicPr>
          <p:cNvPr id="5" name="Picture 10">
            <a:hlinkClick r:id="rId3" action="ppaction://hlinksldjump"/>
            <a:extLst>
              <a:ext uri="{FF2B5EF4-FFF2-40B4-BE49-F238E27FC236}">
                <a16:creationId xmlns:a16="http://schemas.microsoft.com/office/drawing/2014/main" id="{381CB5B1-69F9-4767-8866-AE39DFC7F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5755" y="5700821"/>
            <a:ext cx="1324810" cy="1324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FE540999-071F-4D70-BB73-87FB96234496}"/>
              </a:ext>
            </a:extLst>
          </p:cNvPr>
          <p:cNvSpPr txBox="1"/>
          <p:nvPr/>
        </p:nvSpPr>
        <p:spPr>
          <a:xfrm>
            <a:off x="11172079" y="5700821"/>
            <a:ext cx="5521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900" dirty="0">
                <a:solidFill>
                  <a:schemeClr val="bg1"/>
                </a:solidFill>
                <a:latin typeface="Montserrat ExtraBold" panose="00000900000000000000" pitchFamily="2" charset="-18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1799218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3BDCA2-2F82-4F7D-8404-BC229C96F8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535" y="2349130"/>
            <a:ext cx="558800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A logikai operátorokat feltételek összekapcsolására vagy megfordítására használjuk.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&amp;&amp; ÉS – mindkét feltételnek igaznak kell lennie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|| VAGY – legalább az egyik feltételnek igaznak kell lennie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! NEM – megfordítja a feltétel értékét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24A57320-023A-4138-9CB8-0911C32CE57E}"/>
              </a:ext>
            </a:extLst>
          </p:cNvPr>
          <p:cNvSpPr txBox="1"/>
          <p:nvPr/>
        </p:nvSpPr>
        <p:spPr>
          <a:xfrm>
            <a:off x="2749550" y="213268"/>
            <a:ext cx="66929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ontserrat ExtraBold" panose="00000900000000000000" pitchFamily="2" charset="-18"/>
              </a:rPr>
              <a:t>LOGIKAI OPERÁTOROK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88A20A0F-6934-44E6-AB11-34EF8F045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535" y="1583267"/>
            <a:ext cx="6816630" cy="4614334"/>
          </a:xfrm>
          <a:prstGeom prst="rect">
            <a:avLst/>
          </a:prstGeom>
        </p:spPr>
      </p:pic>
      <p:pic>
        <p:nvPicPr>
          <p:cNvPr id="9" name="Picture 10">
            <a:hlinkClick r:id="rId3" action="ppaction://hlinksldjump"/>
            <a:extLst>
              <a:ext uri="{FF2B5EF4-FFF2-40B4-BE49-F238E27FC236}">
                <a16:creationId xmlns:a16="http://schemas.microsoft.com/office/drawing/2014/main" id="{7CBD948C-C93A-469A-AB61-F100362F5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5755" y="5700821"/>
            <a:ext cx="1324810" cy="1324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zövegdoboz 9">
            <a:extLst>
              <a:ext uri="{FF2B5EF4-FFF2-40B4-BE49-F238E27FC236}">
                <a16:creationId xmlns:a16="http://schemas.microsoft.com/office/drawing/2014/main" id="{C26CB84D-CC06-4218-99FB-E713DBA75FC4}"/>
              </a:ext>
            </a:extLst>
          </p:cNvPr>
          <p:cNvSpPr txBox="1"/>
          <p:nvPr/>
        </p:nvSpPr>
        <p:spPr>
          <a:xfrm>
            <a:off x="11172079" y="5700821"/>
            <a:ext cx="5521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900" dirty="0">
                <a:solidFill>
                  <a:schemeClr val="bg1"/>
                </a:solidFill>
                <a:latin typeface="Montserrat ExtraBold" panose="00000900000000000000" pitchFamily="2" charset="-18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3854939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21A66B-0EC0-44E7-AE0E-13A517A8A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266" y="2055800"/>
            <a:ext cx="5645467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Vannak olyan operátorok is, amelyek nem tartoznak az előző kategóriákba.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++ Egyel növeli az értéket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-- Egyel csökkenti az értéket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?: Feltételes operátor</a:t>
            </a:r>
            <a:b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</a:br>
            <a:r>
              <a:rPr kumimoji="0" lang="hu-HU" altLang="hu-HU" sz="24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Montserrat ExtraBold" panose="00000900000000000000" pitchFamily="2" charset="-18"/>
              </a:rPr>
              <a:t>?? Null érték esetén alternatív értéket ad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3481A3AD-72A7-4DE9-A55D-402E6CD316B2}"/>
              </a:ext>
            </a:extLst>
          </p:cNvPr>
          <p:cNvSpPr txBox="1"/>
          <p:nvPr/>
        </p:nvSpPr>
        <p:spPr>
          <a:xfrm>
            <a:off x="3048000" y="247134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ontserrat ExtraBold" panose="00000900000000000000" pitchFamily="2" charset="-18"/>
              </a:rPr>
              <a:t>EGYÉB OPERÁTOROK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361DD3F-0D20-4C1F-BD23-53C4142B11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4252" y="1261171"/>
            <a:ext cx="7199496" cy="4555066"/>
          </a:xfrm>
          <a:prstGeom prst="rect">
            <a:avLst/>
          </a:prstGeom>
        </p:spPr>
      </p:pic>
      <p:pic>
        <p:nvPicPr>
          <p:cNvPr id="7" name="Picture 10">
            <a:hlinkClick r:id="rId3" action="ppaction://hlinksldjump"/>
            <a:extLst>
              <a:ext uri="{FF2B5EF4-FFF2-40B4-BE49-F238E27FC236}">
                <a16:creationId xmlns:a16="http://schemas.microsoft.com/office/drawing/2014/main" id="{F7AE1360-6950-47F7-B515-00AA10F00C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5755" y="5700821"/>
            <a:ext cx="1324810" cy="1324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890E84C0-C9FB-409E-9C3A-8D360757F9F5}"/>
              </a:ext>
            </a:extLst>
          </p:cNvPr>
          <p:cNvSpPr txBox="1"/>
          <p:nvPr/>
        </p:nvSpPr>
        <p:spPr>
          <a:xfrm>
            <a:off x="11172079" y="5700821"/>
            <a:ext cx="5521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900" dirty="0">
                <a:solidFill>
                  <a:schemeClr val="bg1"/>
                </a:solidFill>
                <a:latin typeface="Montserrat ExtraBold" panose="00000900000000000000" pitchFamily="2" charset="-18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0285781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oogle Shape;165;p38">
            <a:extLst>
              <a:ext uri="{FF2B5EF4-FFF2-40B4-BE49-F238E27FC236}">
                <a16:creationId xmlns:a16="http://schemas.microsoft.com/office/drawing/2014/main" id="{2ED107DC-E0F5-4236-BC86-D30F6A9FB5BB}"/>
              </a:ext>
            </a:extLst>
          </p:cNvPr>
          <p:cNvCxnSpPr>
            <a:cxnSpLocks/>
          </p:cNvCxnSpPr>
          <p:nvPr/>
        </p:nvCxnSpPr>
        <p:spPr>
          <a:xfrm flipV="1">
            <a:off x="2589814" y="2785758"/>
            <a:ext cx="7012373" cy="1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4" name="Szövegdoboz 3">
            <a:extLst>
              <a:ext uri="{FF2B5EF4-FFF2-40B4-BE49-F238E27FC236}">
                <a16:creationId xmlns:a16="http://schemas.microsoft.com/office/drawing/2014/main" id="{1E1B5824-8B80-44ED-8C0C-77666160309D}"/>
              </a:ext>
            </a:extLst>
          </p:cNvPr>
          <p:cNvSpPr txBox="1"/>
          <p:nvPr/>
        </p:nvSpPr>
        <p:spPr>
          <a:xfrm>
            <a:off x="2015066" y="1631596"/>
            <a:ext cx="81618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7200" b="1" cap="all" dirty="0" err="1">
                <a:solidFill>
                  <a:schemeClr val="bg1"/>
                </a:solidFill>
                <a:latin typeface="Montserrat ExtraBold" panose="00000900000000000000" pitchFamily="2" charset="-18"/>
              </a:rPr>
              <a:t>KÖSzönjük</a:t>
            </a:r>
            <a:r>
              <a:rPr lang="hu-HU" sz="7200" b="1" cap="all" dirty="0">
                <a:solidFill>
                  <a:schemeClr val="bg1"/>
                </a:solidFill>
                <a:latin typeface="Montserrat ExtraBold" panose="00000900000000000000" pitchFamily="2" charset="-18"/>
              </a:rPr>
              <a:t> a figyelmet !</a:t>
            </a:r>
          </a:p>
        </p:txBody>
      </p:sp>
      <p:pic>
        <p:nvPicPr>
          <p:cNvPr id="7" name="Picture 10">
            <a:extLst>
              <a:ext uri="{FF2B5EF4-FFF2-40B4-BE49-F238E27FC236}">
                <a16:creationId xmlns:a16="http://schemas.microsoft.com/office/drawing/2014/main" id="{DEC8304F-8205-4588-A781-0D7D63E08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3233" y="4394718"/>
            <a:ext cx="2785533" cy="2785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29590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248</Words>
  <Application>Microsoft Office PowerPoint</Application>
  <PresentationFormat>Szélesvásznú</PresentationFormat>
  <Paragraphs>40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Montserrat ExtraBold</vt:lpstr>
      <vt:lpstr>Montserrat ExtraLight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Órendi Göncöl</dc:creator>
  <cp:lastModifiedBy>Órendi Göncöl</cp:lastModifiedBy>
  <cp:revision>13</cp:revision>
  <dcterms:created xsi:type="dcterms:W3CDTF">2026-10-01T10:35:21Z</dcterms:created>
  <dcterms:modified xsi:type="dcterms:W3CDTF">2026-10-08T11:51:54Z</dcterms:modified>
</cp:coreProperties>
</file>